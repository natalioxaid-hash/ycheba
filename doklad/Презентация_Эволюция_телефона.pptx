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392000"/>
            <a:ext cx="12192119" cy="90000"/>
          </a:xfrm>
          <a:prstGeom prst="rect">
            <a:avLst/>
          </a:prstGeom>
          <a:solidFill>
            <a:srgbClr val="E84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152000"/>
            <a:ext cx="10752119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5400" b="1">
                <a:solidFill>
                  <a:srgbClr val="FFFFFF"/>
                </a:solidFill>
                <a:latin typeface="Arial"/>
              </a:rPr>
              <a:t>Эволюция телефона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2268000"/>
            <a:ext cx="1075211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0">
                <a:solidFill>
                  <a:srgbClr val="C8D3E8"/>
                </a:solidFill>
                <a:latin typeface="Arial"/>
              </a:rPr>
              <a:t>История изобретения: от аппарата Белла до смартфона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752000"/>
            <a:ext cx="10752119" cy="503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Максимов Илья, 4 «Г» класс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1112119" cy="86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Как общались до телефона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620000"/>
            <a:ext cx="3528000" cy="39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0000" y="1620000"/>
            <a:ext cx="3528000" cy="144000"/>
          </a:xfrm>
          <a:prstGeom prst="rect">
            <a:avLst/>
          </a:prstGeom>
          <a:solidFill>
            <a:srgbClr val="E84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6000" y="1944000"/>
            <a:ext cx="3096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>
                <a:solidFill>
                  <a:srgbClr val="1B2A49"/>
                </a:solidFill>
                <a:latin typeface="Arial"/>
              </a:rPr>
              <a:t>Гонцы и голуби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6000" y="2808000"/>
            <a:ext cx="3096000" cy="2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Arial"/>
              </a:rPr>
              <a:t>Сообщение несли люди или птицы. Это было долго.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56000" y="1620000"/>
            <a:ext cx="3528000" cy="39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56000" y="1620000"/>
            <a:ext cx="3528000" cy="144000"/>
          </a:xfrm>
          <a:prstGeom prst="rect">
            <a:avLst/>
          </a:prstGeom>
          <a:solidFill>
            <a:srgbClr val="E84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44000"/>
            <a:ext cx="3096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>
                <a:solidFill>
                  <a:srgbClr val="1B2A49"/>
                </a:solidFill>
                <a:latin typeface="Arial"/>
              </a:rPr>
              <a:t>Почта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808000"/>
            <a:ext cx="3096000" cy="2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Arial"/>
              </a:rPr>
              <a:t>Письмо в другой город шло дни и недели.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72000" y="1620000"/>
            <a:ext cx="3528000" cy="39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72000" y="1620000"/>
            <a:ext cx="3528000" cy="144000"/>
          </a:xfrm>
          <a:prstGeom prst="rect">
            <a:avLst/>
          </a:prstGeom>
          <a:solidFill>
            <a:srgbClr val="E84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8000" y="1944000"/>
            <a:ext cx="3096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>
                <a:solidFill>
                  <a:srgbClr val="1B2A49"/>
                </a:solidFill>
                <a:latin typeface="Arial"/>
              </a:rPr>
              <a:t>Телеграф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8000" y="2808000"/>
            <a:ext cx="3096000" cy="2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Arial"/>
              </a:rPr>
              <a:t>1830–1840-е годы. Сэмюэл Морзе: точки и тире по проводам. Но голос передать было нельзя.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12119" y="6390000"/>
            <a:ext cx="9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200" b="0">
                <a:solidFill>
                  <a:srgbClr val="999999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9312119" cy="86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Первый телефон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24119" y="216000"/>
            <a:ext cx="1800000" cy="648000"/>
          </a:xfrm>
          <a:prstGeom prst="roundRect">
            <a:avLst/>
          </a:prstGeom>
          <a:solidFill>
            <a:srgbClr val="E84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1876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440000"/>
            <a:ext cx="5220000" cy="48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1_b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2660062"/>
            <a:ext cx="4860000" cy="2419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0000" y="1548000"/>
            <a:ext cx="5400000" cy="48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• Изобрёл Александр Грэхем Белл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• Первая фраза: «Мистер Ватсон, идите сюда, вы мне нужны!»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• Одна трубка: в неё и говорили, и слушали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• Голос был тихим, связь — на небольшом расстоянии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2119" y="6390000"/>
            <a:ext cx="9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200" b="0">
                <a:solidFill>
                  <a:srgbClr val="999999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9312119" cy="86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Телефонистки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24119" y="216000"/>
            <a:ext cx="1800000" cy="648000"/>
          </a:xfrm>
          <a:prstGeom prst="roundRect">
            <a:avLst/>
          </a:prstGeom>
          <a:solidFill>
            <a:srgbClr val="E84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1878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440000"/>
            <a:ext cx="5220000" cy="48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2_oper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2083846"/>
            <a:ext cx="4860000" cy="35723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0000" y="1548000"/>
            <a:ext cx="5400000" cy="48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• Появилась первая телефонная станция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• Телефонистка вручную соединяла людей на коммутаторе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• В России первые станции открылись в 1882 году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2119" y="6390000"/>
            <a:ext cx="9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200" b="0">
                <a:solidFill>
                  <a:srgbClr val="999999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9312119" cy="86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Телефон с ручкой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24119" y="216000"/>
            <a:ext cx="1800000" cy="648000"/>
          </a:xfrm>
          <a:prstGeom prst="roundRect">
            <a:avLst/>
          </a:prstGeom>
          <a:solidFill>
            <a:srgbClr val="E84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1900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440000"/>
            <a:ext cx="5220000" cy="48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3_w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" y="1620000"/>
            <a:ext cx="4140000" cy="414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5868000"/>
            <a:ext cx="522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Arial"/>
              </a:rPr>
              <a:t>Телефон в старинном стиле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0000" y="1548000"/>
            <a:ext cx="5400000" cy="48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• Чтобы позвонить, крутили ручку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• На станции звенел звонок, и отвечала телефонистка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• Эдисон улучшил микрофон — голос стал громче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12119" y="6390000"/>
            <a:ext cx="9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200" b="0">
                <a:solidFill>
                  <a:srgbClr val="999999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9312119" cy="86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Телефон с диском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24119" y="216000"/>
            <a:ext cx="1800000" cy="648000"/>
          </a:xfrm>
          <a:prstGeom prst="roundRect">
            <a:avLst/>
          </a:prstGeom>
          <a:solidFill>
            <a:srgbClr val="E84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1930-е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440000"/>
            <a:ext cx="5220000" cy="48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4_rot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751199"/>
            <a:ext cx="4860000" cy="42376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0000" y="1548000"/>
            <a:ext cx="5400000" cy="48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• Строуджер изобрёл автоматическую станцию (АТС)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• Номер набирали сами, крутя диск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• Телефонистки стали не нужны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• Такие телефоны были у наших бабушек и дедушек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2119" y="6390000"/>
            <a:ext cx="9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200" b="0">
                <a:solidFill>
                  <a:srgbClr val="999999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9312119" cy="86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Кнопочный телефон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24119" y="216000"/>
            <a:ext cx="1800000" cy="648000"/>
          </a:xfrm>
          <a:prstGeom prst="roundRect">
            <a:avLst/>
          </a:prstGeom>
          <a:solidFill>
            <a:srgbClr val="E84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1963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440000"/>
            <a:ext cx="5220000" cy="48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8_butt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937" y="1620000"/>
            <a:ext cx="4528125" cy="45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0000" y="1548000"/>
            <a:ext cx="5400000" cy="48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• Вместо диска появились кнопки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• Номер набирается гораздо быстрее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• Потом появились трубки без провода — радиотелефоны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2119" y="6390000"/>
            <a:ext cx="9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200" b="0">
                <a:solidFill>
                  <a:srgbClr val="999999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9312119" cy="86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Первый мобильный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24119" y="216000"/>
            <a:ext cx="1800000" cy="648000"/>
          </a:xfrm>
          <a:prstGeom prst="roundRect">
            <a:avLst/>
          </a:prstGeom>
          <a:solidFill>
            <a:srgbClr val="E84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1983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440000"/>
            <a:ext cx="5220000" cy="48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6_dynat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2250000"/>
            <a:ext cx="4860000" cy="324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0000" y="1548000"/>
            <a:ext cx="5400000" cy="48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• 1973: Мартин Купер первым позвонил по мобильному на улице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• 1983: Motorola DynaTAC 8000X в продаже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• Весил около 800 г — прозвали «кирпичом»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• Говорить можно было 30 минут, заряжался 10 часов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2119" y="6390000"/>
            <a:ext cx="9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200" b="0">
                <a:solidFill>
                  <a:srgbClr val="999999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9312119" cy="86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Мобильные с кнопками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24119" y="216000"/>
            <a:ext cx="1800000" cy="648000"/>
          </a:xfrm>
          <a:prstGeom prst="roundRect">
            <a:avLst/>
          </a:prstGeom>
          <a:solidFill>
            <a:srgbClr val="E84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1990-е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440000"/>
            <a:ext cx="5220000" cy="48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5_fe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2503125"/>
            <a:ext cx="4860000" cy="2733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0000" y="1548000"/>
            <a:ext cx="5400000" cy="48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• Телефоны стали маленькими и дешёвыми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• 1992: первое СМС — «С Рождеством!»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• Появились цветные экраны, игры и камеры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2119" y="6390000"/>
            <a:ext cx="9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200" b="0">
                <a:solidFill>
                  <a:srgbClr val="999999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9312119" cy="86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Смартфон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24119" y="216000"/>
            <a:ext cx="1800000" cy="648000"/>
          </a:xfrm>
          <a:prstGeom prst="roundRect">
            <a:avLst/>
          </a:prstGeom>
          <a:solidFill>
            <a:srgbClr val="E84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2007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440000"/>
            <a:ext cx="5220000" cy="48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7_sm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00" y="1620000"/>
            <a:ext cx="4500000" cy="45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0000" y="1548000"/>
            <a:ext cx="5400000" cy="48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• Большой сенсорный экран вместо кнопок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• Телефон, фотоаппарат, карта, плеер и интернет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• Видеосвязь с любой точкой Земли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2119" y="6390000"/>
            <a:ext cx="9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200" b="0">
                <a:solidFill>
                  <a:srgbClr val="999999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1112119" cy="86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Лента времени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800000"/>
            <a:ext cx="11112119" cy="36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7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2202225"/>
            <a:ext cx="10752119" cy="2795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12119" y="6390000"/>
            <a:ext cx="9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200" b="0">
                <a:solidFill>
                  <a:srgbClr val="999999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1112119" cy="86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Вывод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548000"/>
            <a:ext cx="10752119" cy="4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• За 150 лет телефон прошёл путь от деревянного ящика до смартфона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• Его улучшали многие изобретатели: Белл, Эдисон, Строуджер, Купер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• Каждый новый телефон был удобнее старого: звук лучше, связь быстрее, проводов меньше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• Это и есть эволюция изобретения — развитие от простого к сложному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119" y="6390000"/>
            <a:ext cx="9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200" b="0">
                <a:solidFill>
                  <a:srgbClr val="999999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340000"/>
            <a:ext cx="10752119" cy="10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5400" b="1">
                <a:solidFill>
                  <a:srgbClr val="FFFFFF"/>
                </a:solidFill>
                <a:latin typeface="Arial"/>
              </a:rPr>
              <a:t>Спасибо за внимание!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3780000"/>
            <a:ext cx="1075211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0">
                <a:solidFill>
                  <a:srgbClr val="C8D3E8"/>
                </a:solidFill>
                <a:latin typeface="Arial"/>
              </a:rPr>
              <a:t>Максимов Илья, 4 «Г» класс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